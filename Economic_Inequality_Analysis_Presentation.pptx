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FEA9E-D1F5-4A5B-AC67-6129CAEEA64B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4FA15-6216-4C31-80F3-174866960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6568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FEA9E-D1F5-4A5B-AC67-6129CAEEA64B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4FA15-6216-4C31-80F3-174866960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4450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FEA9E-D1F5-4A5B-AC67-6129CAEEA64B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4FA15-6216-4C31-80F3-174866960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890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FEA9E-D1F5-4A5B-AC67-6129CAEEA64B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4FA15-6216-4C31-80F3-174866960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438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FEA9E-D1F5-4A5B-AC67-6129CAEEA64B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4FA15-6216-4C31-80F3-174866960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8172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FEA9E-D1F5-4A5B-AC67-6129CAEEA64B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4FA15-6216-4C31-80F3-174866960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7570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FEA9E-D1F5-4A5B-AC67-6129CAEEA64B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4FA15-6216-4C31-80F3-174866960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8686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FEA9E-D1F5-4A5B-AC67-6129CAEEA64B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4FA15-6216-4C31-80F3-174866960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159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FEA9E-D1F5-4A5B-AC67-6129CAEEA64B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4FA15-6216-4C31-80F3-174866960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0661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FEA9E-D1F5-4A5B-AC67-6129CAEEA64B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4FA15-6216-4C31-80F3-174866960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562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FEA9E-D1F5-4A5B-AC67-6129CAEEA64B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4FA15-6216-4C31-80F3-174866960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1562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CFEA9E-D1F5-4A5B-AC67-6129CAEEA64B}" type="datetimeFigureOut">
              <a:rPr lang="en-GB" smtClean="0"/>
              <a:t>29/09/2026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4FA15-6216-4C31-80F3-174866960E5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2577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207963"/>
            <a:ext cx="9144000" cy="2387600"/>
          </a:xfrm>
        </p:spPr>
        <p:txBody>
          <a:bodyPr>
            <a:normAutofit/>
          </a:bodyPr>
          <a:lstStyle/>
          <a:p>
            <a:r>
              <a:rPr lang="en-GB" sz="4400" b="1" dirty="0" smtClean="0"/>
              <a:t>Economic Inequality Analysis</a:t>
            </a:r>
            <a:endParaRPr lang="en-GB" sz="44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864284"/>
            <a:ext cx="9144000" cy="1655762"/>
          </a:xfrm>
        </p:spPr>
        <p:txBody>
          <a:bodyPr>
            <a:normAutofit/>
          </a:bodyPr>
          <a:lstStyle/>
          <a:p>
            <a:r>
              <a:rPr lang="en-GB" dirty="0" smtClean="0"/>
              <a:t>Comparative Visualization of Income &amp; Wealth</a:t>
            </a:r>
            <a:br>
              <a:rPr lang="en-GB" dirty="0" smtClean="0"/>
            </a:br>
            <a:r>
              <a:rPr lang="en-GB" dirty="0" smtClean="0"/>
              <a:t>Education • Employment • Regional Inequality</a:t>
            </a:r>
          </a:p>
          <a:p>
            <a:endParaRPr lang="en-US" b="1" dirty="0" smtClean="0"/>
          </a:p>
          <a:p>
            <a:r>
              <a:rPr lang="en-GB" sz="1800" i="1" dirty="0" smtClean="0"/>
              <a:t>D3.js | Observable</a:t>
            </a:r>
            <a:endParaRPr lang="en-GB" sz="1800" i="1" dirty="0"/>
          </a:p>
        </p:txBody>
      </p:sp>
      <p:sp>
        <p:nvSpPr>
          <p:cNvPr id="5" name="TextBox 4"/>
          <p:cNvSpPr txBox="1"/>
          <p:nvPr/>
        </p:nvSpPr>
        <p:spPr>
          <a:xfrm>
            <a:off x="3345873" y="4956464"/>
            <a:ext cx="559836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Usman Ali</a:t>
            </a:r>
          </a:p>
          <a:p>
            <a:pPr algn="ctr"/>
            <a:r>
              <a:rPr lang="en-GB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SkilledScore</a:t>
            </a: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Data Visualization Internship</a:t>
            </a:r>
          </a:p>
          <a:p>
            <a:pPr algn="ctr"/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Supervisor: </a:t>
            </a:r>
            <a:r>
              <a:rPr lang="en-GB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Dr.</a:t>
            </a: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Zeeshan</a:t>
            </a:r>
            <a:r>
              <a:rPr lang="en-GB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Usmani</a:t>
            </a:r>
            <a:endParaRPr lang="en-GB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1368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555" y="280266"/>
            <a:ext cx="10515600" cy="1325563"/>
          </a:xfrm>
        </p:spPr>
        <p:txBody>
          <a:bodyPr/>
          <a:lstStyle/>
          <a:p>
            <a:r>
              <a:rPr lang="en-GB" dirty="0" smtClean="0"/>
              <a:t>Dataset &amp; Analytical Approach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3120736" cy="38997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b="1" dirty="0" smtClean="0"/>
              <a:t>DATASET</a:t>
            </a:r>
            <a:endParaRPr lang="en-GB" sz="2400" dirty="0" smtClean="0"/>
          </a:p>
          <a:p>
            <a:pPr marL="0" indent="0">
              <a:buNone/>
            </a:pPr>
            <a:r>
              <a:rPr lang="en-GB" sz="1800" dirty="0" smtClean="0"/>
              <a:t>• 1,000 synthetic records</a:t>
            </a:r>
            <a:br>
              <a:rPr lang="en-GB" sz="1800" dirty="0" smtClean="0"/>
            </a:br>
            <a:r>
              <a:rPr lang="en-GB" sz="1800" dirty="0" smtClean="0"/>
              <a:t>• 5 geographic regions</a:t>
            </a:r>
            <a:br>
              <a:rPr lang="en-GB" sz="1800" dirty="0" smtClean="0"/>
            </a:br>
            <a:r>
              <a:rPr lang="en-GB" sz="1800" dirty="0" smtClean="0"/>
              <a:t>• Education</a:t>
            </a:r>
            <a:br>
              <a:rPr lang="en-GB" sz="1800" dirty="0" smtClean="0"/>
            </a:br>
            <a:r>
              <a:rPr lang="en-GB" sz="1800" dirty="0" smtClean="0"/>
              <a:t>• Employment</a:t>
            </a:r>
            <a:br>
              <a:rPr lang="en-GB" sz="1800" dirty="0" smtClean="0"/>
            </a:br>
            <a:r>
              <a:rPr lang="en-GB" sz="1800" dirty="0" smtClean="0"/>
              <a:t>• Income &amp; Wealth</a:t>
            </a:r>
            <a:br>
              <a:rPr lang="en-GB" sz="1800" dirty="0" smtClean="0"/>
            </a:br>
            <a:r>
              <a:rPr lang="en-GB" sz="1800" dirty="0" smtClean="0"/>
              <a:t>• Income Bracket</a:t>
            </a:r>
          </a:p>
          <a:p>
            <a:pPr marL="0" indent="0">
              <a:buNone/>
            </a:pPr>
            <a:endParaRPr lang="en-GB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3958936" y="1744183"/>
            <a:ext cx="33005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/>
              <a:t>DATA PREPARATION</a:t>
            </a:r>
          </a:p>
          <a:p>
            <a:r>
              <a:rPr lang="en-GB" dirty="0" smtClean="0"/>
              <a:t>• Income &amp; wealth normalization</a:t>
            </a:r>
            <a:br>
              <a:rPr lang="en-GB" dirty="0" smtClean="0"/>
            </a:br>
            <a:r>
              <a:rPr lang="en-GB" dirty="0" smtClean="0"/>
              <a:t>• Categorical encoding</a:t>
            </a:r>
            <a:br>
              <a:rPr lang="en-GB" dirty="0" smtClean="0"/>
            </a:br>
            <a:r>
              <a:rPr lang="en-GB" dirty="0" smtClean="0"/>
              <a:t>• Data validation</a:t>
            </a:r>
            <a:br>
              <a:rPr lang="en-GB" dirty="0" smtClean="0"/>
            </a:br>
            <a:r>
              <a:rPr lang="en-GB" dirty="0" smtClean="0"/>
              <a:t>• </a:t>
            </a:r>
            <a:r>
              <a:rPr lang="en-GB" dirty="0" err="1" smtClean="0"/>
              <a:t>Preprocessing</a:t>
            </a:r>
            <a:endParaRPr lang="en-GB" dirty="0"/>
          </a:p>
        </p:txBody>
      </p:sp>
      <p:sp>
        <p:nvSpPr>
          <p:cNvPr id="7" name="TextBox 6"/>
          <p:cNvSpPr txBox="1"/>
          <p:nvPr/>
        </p:nvSpPr>
        <p:spPr>
          <a:xfrm>
            <a:off x="7699664" y="1744183"/>
            <a:ext cx="3230949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smtClean="0"/>
              <a:t>ANALYTICAL APPROACH</a:t>
            </a:r>
          </a:p>
          <a:p>
            <a:r>
              <a:rPr lang="en-GB" dirty="0" smtClean="0"/>
              <a:t>• Distribution analysis</a:t>
            </a:r>
            <a:br>
              <a:rPr lang="en-GB" dirty="0" smtClean="0"/>
            </a:br>
            <a:r>
              <a:rPr lang="en-GB" dirty="0" smtClean="0"/>
              <a:t>• Sankey flow</a:t>
            </a:r>
            <a:br>
              <a:rPr lang="en-GB" dirty="0" smtClean="0"/>
            </a:br>
            <a:r>
              <a:rPr lang="en-GB" dirty="0" smtClean="0"/>
              <a:t>• Parallel coordinates</a:t>
            </a:r>
            <a:br>
              <a:rPr lang="en-GB" dirty="0" smtClean="0"/>
            </a:br>
            <a:r>
              <a:rPr lang="en-GB" dirty="0" smtClean="0"/>
              <a:t>• Regional Gini coefficient</a:t>
            </a:r>
            <a:br>
              <a:rPr lang="en-GB" dirty="0" smtClean="0"/>
            </a:br>
            <a:r>
              <a:rPr lang="en-GB" dirty="0" smtClean="0"/>
              <a:t>• Interactive filtering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1802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3682" y="179811"/>
            <a:ext cx="80704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 smtClean="0"/>
              <a:t>Economic Disparities in Income &amp; Wealth</a:t>
            </a:r>
            <a:endParaRPr lang="en-GB" sz="36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67590" y="5606620"/>
            <a:ext cx="113468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Key insight:</a:t>
            </a:r>
            <a:r>
              <a:rPr lang="en-GB" dirty="0" smtClean="0"/>
              <a:t> Higher education is associated with higher income, while unemployment is associated with substantially lower wealth. Both distributions contain significant high-value outliers.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1027" y="996338"/>
            <a:ext cx="5427670" cy="444008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90" y="996338"/>
            <a:ext cx="5351319" cy="4440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97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50719" y="280554"/>
            <a:ext cx="62925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 smtClean="0"/>
              <a:t>Advanced Comparative Analysis</a:t>
            </a:r>
            <a:endParaRPr lang="en-GB" sz="36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20" y="1194955"/>
            <a:ext cx="3231572" cy="417714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9996" y="976746"/>
            <a:ext cx="3688773" cy="43953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473" y="1194955"/>
            <a:ext cx="3569278" cy="41771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0719" y="5725391"/>
            <a:ext cx="11165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Key insight:</a:t>
            </a:r>
            <a:r>
              <a:rPr lang="en-GB" dirty="0" smtClean="0"/>
              <a:t> Education and employment pathways lead to distinct income outcomes, while regional Gini coefficients reveal moderate differences in inequality, with East showing the highest inequality in the synthetic dataset.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8882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4073" y="315559"/>
            <a:ext cx="66861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b="1" dirty="0" smtClean="0"/>
              <a:t>Key Findings &amp; Recommendations</a:t>
            </a:r>
            <a:endParaRPr lang="en-GB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696192" y="1381991"/>
            <a:ext cx="533053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KEY FINDINGS</a:t>
            </a:r>
            <a:endParaRPr lang="en-GB" dirty="0" smtClean="0"/>
          </a:p>
          <a:p>
            <a:r>
              <a:rPr lang="en-GB" dirty="0" smtClean="0"/>
              <a:t>• Higher education is associated with higher income and wealth.</a:t>
            </a:r>
            <a:br>
              <a:rPr lang="en-GB" dirty="0" smtClean="0"/>
            </a:br>
            <a:r>
              <a:rPr lang="en-GB" dirty="0" smtClean="0"/>
              <a:t>• Unemployment is associated with substantially weaker economic outcomes.</a:t>
            </a:r>
            <a:br>
              <a:rPr lang="en-GB" dirty="0" smtClean="0"/>
            </a:br>
            <a:r>
              <a:rPr lang="en-GB" dirty="0" smtClean="0"/>
              <a:t>• Income and wealth are positively related.</a:t>
            </a:r>
            <a:br>
              <a:rPr lang="en-GB" dirty="0" smtClean="0"/>
            </a:br>
            <a:r>
              <a:rPr lang="en-GB" dirty="0" smtClean="0"/>
              <a:t>•Regional inequality varies moderately, while education-related income outcomes also differ across regions.</a:t>
            </a:r>
            <a:br>
              <a:rPr lang="en-GB" dirty="0" smtClean="0"/>
            </a:br>
            <a:r>
              <a:rPr lang="en-GB" dirty="0" smtClean="0"/>
              <a:t>• Wealth contains substantial high-value outliers.</a:t>
            </a:r>
          </a:p>
          <a:p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6530326" y="1381991"/>
            <a:ext cx="48788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POTENTIAL INTERVENTIONS</a:t>
            </a:r>
            <a:endParaRPr lang="en-GB" dirty="0" smtClean="0"/>
          </a:p>
          <a:p>
            <a:r>
              <a:rPr lang="en-GB" dirty="0" smtClean="0"/>
              <a:t>• Expand education subsidies and scholarships.</a:t>
            </a:r>
            <a:br>
              <a:rPr lang="en-GB" dirty="0" smtClean="0"/>
            </a:br>
            <a:r>
              <a:rPr lang="en-GB" dirty="0" smtClean="0"/>
              <a:t>• Strengthen vocational training and job-placement programs.</a:t>
            </a:r>
            <a:br>
              <a:rPr lang="en-GB" dirty="0" smtClean="0"/>
            </a:br>
            <a:r>
              <a:rPr lang="en-GB" dirty="0" smtClean="0"/>
              <a:t>• Target workforce support toward higher-inequality regions.</a:t>
            </a:r>
            <a:br>
              <a:rPr lang="en-GB" dirty="0" smtClean="0"/>
            </a:br>
            <a:r>
              <a:rPr lang="en-GB" dirty="0" smtClean="0"/>
              <a:t>• Improve financial literacy and wealth-building opportunities.</a:t>
            </a:r>
          </a:p>
          <a:p>
            <a:endParaRPr lang="en-GB" dirty="0"/>
          </a:p>
        </p:txBody>
      </p:sp>
      <p:sp>
        <p:nvSpPr>
          <p:cNvPr id="5" name="TextBox 4"/>
          <p:cNvSpPr txBox="1"/>
          <p:nvPr/>
        </p:nvSpPr>
        <p:spPr>
          <a:xfrm>
            <a:off x="852056" y="4161185"/>
            <a:ext cx="105571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b="1" dirty="0" smtClean="0"/>
          </a:p>
          <a:p>
            <a:r>
              <a:rPr lang="en-GB" b="1" dirty="0" smtClean="0"/>
              <a:t>Conclusion:</a:t>
            </a:r>
            <a:r>
              <a:rPr lang="en-GB" dirty="0" smtClean="0"/>
              <a:t> Education, employment, and regional factors are associated with meaningful differences in economic outcomes. Combining Sankey flows, parallel coordinates, Gini coefficients, and interactive analysis provides multiple perspectives on these disparities.</a:t>
            </a:r>
          </a:p>
          <a:p>
            <a:endParaRPr lang="en-GB" dirty="0"/>
          </a:p>
        </p:txBody>
      </p:sp>
      <p:sp>
        <p:nvSpPr>
          <p:cNvPr id="6" name="TextBox 5"/>
          <p:cNvSpPr txBox="1"/>
          <p:nvPr/>
        </p:nvSpPr>
        <p:spPr>
          <a:xfrm>
            <a:off x="852056" y="5638513"/>
            <a:ext cx="10301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smtClean="0"/>
              <a:t>Note: </a:t>
            </a:r>
            <a:r>
              <a:rPr lang="en-GB" dirty="0" smtClean="0"/>
              <a:t>Results are based on synthetic data and should not be interpreted as real-world population estimates.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163836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194</Words>
  <Application>Microsoft Office PowerPoint</Application>
  <PresentationFormat>Widescreen</PresentationFormat>
  <Paragraphs>26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Economic Inequality Analysis</vt:lpstr>
      <vt:lpstr>Dataset &amp; Analytical Approach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Inequality Analysis</dc:title>
  <dc:creator>Windows User</dc:creator>
  <cp:lastModifiedBy>Windows User</cp:lastModifiedBy>
  <cp:revision>9</cp:revision>
  <dcterms:created xsi:type="dcterms:W3CDTF">2026-09-29T10:37:00Z</dcterms:created>
  <dcterms:modified xsi:type="dcterms:W3CDTF">2026-09-29T13:15:58Z</dcterms:modified>
</cp:coreProperties>
</file>